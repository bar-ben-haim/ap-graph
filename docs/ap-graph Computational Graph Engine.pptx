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embeddedFontLst>
    <p:embeddedFont>
      <p:font typeface="Nyutro Sans" panose="020B0604020202020204" charset="0"/>
      <p:regular r:id="rId7"/>
    </p:embeddedFont>
    <p:embeddedFont>
      <p:font typeface="Nyutro Sans Bold" panose="020B0604020202020204" charset="0"/>
      <p:regular r:id="rId8"/>
    </p:embeddedFont>
    <p:embeddedFont>
      <p:font typeface="Nyutro Sans Heavy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7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p-graph-production.up.railway.app/app/index.html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79008" y="116218"/>
            <a:ext cx="7908992" cy="10283443"/>
            <a:chOff x="0" y="0"/>
            <a:chExt cx="2140272" cy="27828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40273" cy="2782840"/>
            </a:xfrm>
            <a:custGeom>
              <a:avLst/>
              <a:gdLst/>
              <a:ahLst/>
              <a:cxnLst/>
              <a:rect l="l" t="t" r="r" b="b"/>
              <a:pathLst>
                <a:path w="2140273" h="2782840">
                  <a:moveTo>
                    <a:pt x="1652831" y="0"/>
                  </a:moveTo>
                  <a:lnTo>
                    <a:pt x="177673" y="0"/>
                  </a:lnTo>
                  <a:cubicBezTo>
                    <a:pt x="79547" y="0"/>
                    <a:pt x="0" y="79547"/>
                    <a:pt x="0" y="177673"/>
                  </a:cubicBezTo>
                  <a:lnTo>
                    <a:pt x="0" y="2605167"/>
                  </a:lnTo>
                  <a:cubicBezTo>
                    <a:pt x="0" y="2703293"/>
                    <a:pt x="79547" y="2782840"/>
                    <a:pt x="177673" y="2782840"/>
                  </a:cubicBezTo>
                  <a:lnTo>
                    <a:pt x="1962600" y="2782840"/>
                  </a:lnTo>
                  <a:cubicBezTo>
                    <a:pt x="2060726" y="2782840"/>
                    <a:pt x="2140273" y="2703293"/>
                    <a:pt x="2140273" y="2605167"/>
                  </a:cubicBezTo>
                  <a:lnTo>
                    <a:pt x="2140273" y="523958"/>
                  </a:lnTo>
                  <a:cubicBezTo>
                    <a:pt x="2140273" y="480251"/>
                    <a:pt x="2124163" y="438079"/>
                    <a:pt x="2095024" y="405503"/>
                  </a:cubicBezTo>
                  <a:lnTo>
                    <a:pt x="1785247" y="59214"/>
                  </a:lnTo>
                  <a:cubicBezTo>
                    <a:pt x="1751543" y="21536"/>
                    <a:pt x="1703384" y="0"/>
                    <a:pt x="1652831" y="0"/>
                  </a:cubicBezTo>
                  <a:close/>
                </a:path>
              </a:pathLst>
            </a:custGeom>
            <a:blipFill>
              <a:blip r:embed="rId2"/>
              <a:stretch>
                <a:fillRect l="-25390" r="-25390"/>
              </a:stretch>
            </a:blipFill>
          </p:spPr>
          <p:txBody>
            <a:bodyPr/>
            <a:lstStyle/>
            <a:p>
              <a:endParaRPr lang="he-I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488" y="666750"/>
            <a:ext cx="10250739" cy="6205227"/>
            <a:chOff x="0" y="0"/>
            <a:chExt cx="13667653" cy="8273636"/>
          </a:xfrm>
        </p:grpSpPr>
        <p:sp>
          <p:nvSpPr>
            <p:cNvPr id="5" name="TextBox 5"/>
            <p:cNvSpPr txBox="1"/>
            <p:nvPr/>
          </p:nvSpPr>
          <p:spPr>
            <a:xfrm>
              <a:off x="0" y="0"/>
              <a:ext cx="13667653" cy="62416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800"/>
                </a:lnSpc>
              </a:pPr>
              <a:r>
                <a:rPr lang="en-US" sz="8800" b="1" spc="-88">
                  <a:solidFill>
                    <a:srgbClr val="AAB8DF"/>
                  </a:solidFill>
                  <a:latin typeface="Nyutro Sans Heavy"/>
                  <a:ea typeface="Nyutro Sans Heavy"/>
                  <a:cs typeface="Nyutro Sans Heavy"/>
                  <a:sym typeface="Nyutro Sans Heavy"/>
                </a:rPr>
                <a:t>Advanced Programming 83677: Computational Graph Project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6117811"/>
              <a:ext cx="9182100" cy="21558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r>
                <a:rPr lang="en-US" sz="3000" spc="-60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Name: Bar Ben Haim</a:t>
              </a:r>
            </a:p>
            <a:p>
              <a:pPr marL="0" lvl="0" indent="0" algn="l">
                <a:lnSpc>
                  <a:spcPts val="4200"/>
                </a:lnSpc>
              </a:pPr>
              <a:r>
                <a:rPr lang="en-US" sz="3000" spc="-60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ID: 212214498</a:t>
              </a:r>
            </a:p>
            <a:p>
              <a:pPr marL="0" lvl="0" indent="0" algn="l">
                <a:lnSpc>
                  <a:spcPts val="4200"/>
                </a:lnSpc>
              </a:pPr>
              <a:r>
                <a:rPr lang="en-US" sz="3000" spc="-60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Email: Bon23174@gmail.com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3334" y="210595"/>
            <a:ext cx="11592579" cy="7347480"/>
            <a:chOff x="0" y="0"/>
            <a:chExt cx="15456772" cy="9796640"/>
          </a:xfrm>
        </p:grpSpPr>
        <p:sp>
          <p:nvSpPr>
            <p:cNvPr id="3" name="TextBox 3"/>
            <p:cNvSpPr txBox="1"/>
            <p:nvPr/>
          </p:nvSpPr>
          <p:spPr>
            <a:xfrm>
              <a:off x="0" y="3944057"/>
              <a:ext cx="15456772" cy="58525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39749" lvl="1" indent="-269875" algn="l">
                <a:lnSpc>
                  <a:spcPts val="34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Building computational graphs quickly and efficiently is challenging.</a:t>
              </a:r>
            </a:p>
            <a:p>
              <a:pPr marL="539749" lvl="1" indent="-269875" algn="l">
                <a:lnSpc>
                  <a:spcPts val="34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The Ap-graph project offers a configurable solution that enables </a:t>
              </a:r>
              <a:r>
                <a:rPr lang="en-US" sz="2499" b="1">
                  <a:solidFill>
                    <a:srgbClr val="7189B7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real-time processing</a:t>
              </a: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 and a generic </a:t>
              </a:r>
              <a:r>
                <a:rPr lang="en-US" sz="2499" b="1">
                  <a:solidFill>
                    <a:srgbClr val="7189B7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REST </a:t>
              </a: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+ </a:t>
              </a:r>
              <a:r>
                <a:rPr lang="en-US" sz="2499" b="1">
                  <a:solidFill>
                    <a:srgbClr val="7189B7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pub/sub</a:t>
              </a: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 infrastructure.</a:t>
              </a:r>
            </a:p>
            <a:p>
              <a:pPr marL="539749" lvl="1" indent="-269875" algn="l">
                <a:lnSpc>
                  <a:spcPts val="34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The project supplies a generic server interfaces, and their implementation, for:</a:t>
              </a:r>
            </a:p>
            <a:p>
              <a:pPr marL="1079499" lvl="2" indent="-359833" algn="l">
                <a:lnSpc>
                  <a:spcPts val="34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managing the graph.</a:t>
              </a:r>
            </a:p>
            <a:p>
              <a:pPr marL="1079499" lvl="2" indent="-359833" algn="l">
                <a:lnSpc>
                  <a:spcPts val="34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 uploading config files.</a:t>
              </a:r>
            </a:p>
            <a:p>
              <a:pPr marL="1079499" lvl="2" indent="-359833" algn="l">
                <a:lnSpc>
                  <a:spcPts val="34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sending messages to topics to trigger calculations.</a:t>
              </a:r>
            </a:p>
            <a:p>
              <a:pPr marL="1079499" lvl="2" indent="-359833" algn="l">
                <a:lnSpc>
                  <a:spcPts val="34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restarting/deleting configuration.</a:t>
              </a:r>
            </a:p>
            <a:p>
              <a:pPr marL="539749" lvl="1" indent="-269875" algn="l">
                <a:lnSpc>
                  <a:spcPts val="349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499">
                  <a:solidFill>
                    <a:srgbClr val="7189B7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managed in Railway cloud with tests and automatic CI/CD when merging to  main branch.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76200"/>
              <a:ext cx="15456772" cy="3124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100"/>
                </a:lnSpc>
                <a:spcBef>
                  <a:spcPct val="0"/>
                </a:spcBef>
              </a:pPr>
              <a:r>
                <a:rPr lang="en-US" sz="9000" b="1" u="none" strike="noStrike" spc="-89">
                  <a:solidFill>
                    <a:srgbClr val="AAB8DF"/>
                  </a:solidFill>
                  <a:latin typeface="Nyutro Sans Heavy"/>
                  <a:ea typeface="Nyutro Sans Heavy"/>
                  <a:cs typeface="Nyutro Sans Heavy"/>
                  <a:sym typeface="Nyutro Sans Heavy"/>
                </a:rPr>
                <a:t>The Problem &amp; Background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853418" y="0"/>
            <a:ext cx="6259749" cy="10287000"/>
            <a:chOff x="0" y="0"/>
            <a:chExt cx="1474378" cy="242292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74379" cy="2422941"/>
            </a:xfrm>
            <a:custGeom>
              <a:avLst/>
              <a:gdLst/>
              <a:ahLst/>
              <a:cxnLst/>
              <a:rect l="l" t="t" r="r" b="b"/>
              <a:pathLst>
                <a:path w="1474379" h="2422941">
                  <a:moveTo>
                    <a:pt x="986937" y="0"/>
                  </a:moveTo>
                  <a:lnTo>
                    <a:pt x="177673" y="0"/>
                  </a:lnTo>
                  <a:cubicBezTo>
                    <a:pt x="79547" y="0"/>
                    <a:pt x="0" y="79547"/>
                    <a:pt x="0" y="177673"/>
                  </a:cubicBezTo>
                  <a:lnTo>
                    <a:pt x="0" y="2245268"/>
                  </a:lnTo>
                  <a:cubicBezTo>
                    <a:pt x="0" y="2343394"/>
                    <a:pt x="79547" y="2422941"/>
                    <a:pt x="177673" y="2422941"/>
                  </a:cubicBezTo>
                  <a:lnTo>
                    <a:pt x="1296706" y="2422941"/>
                  </a:lnTo>
                  <a:cubicBezTo>
                    <a:pt x="1394832" y="2422941"/>
                    <a:pt x="1474379" y="2343394"/>
                    <a:pt x="1474379" y="2245268"/>
                  </a:cubicBezTo>
                  <a:lnTo>
                    <a:pt x="1474379" y="523958"/>
                  </a:lnTo>
                  <a:cubicBezTo>
                    <a:pt x="1474379" y="480251"/>
                    <a:pt x="1458269" y="438079"/>
                    <a:pt x="1429130" y="405503"/>
                  </a:cubicBezTo>
                  <a:lnTo>
                    <a:pt x="1119353" y="59214"/>
                  </a:lnTo>
                  <a:cubicBezTo>
                    <a:pt x="1085649" y="21536"/>
                    <a:pt x="1037490" y="0"/>
                    <a:pt x="986937" y="0"/>
                  </a:cubicBezTo>
                  <a:close/>
                </a:path>
              </a:pathLst>
            </a:custGeom>
            <a:blipFill>
              <a:blip r:embed="rId2"/>
              <a:stretch>
                <a:fillRect t="-289" b="-289"/>
              </a:stretch>
            </a:blipFill>
          </p:spPr>
          <p:txBody>
            <a:bodyPr/>
            <a:lstStyle/>
            <a:p>
              <a:endParaRPr lang="he-IL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תמונה 3">
            <a:extLst>
              <a:ext uri="{FF2B5EF4-FFF2-40B4-BE49-F238E27FC236}">
                <a16:creationId xmlns:a16="http://schemas.microsoft.com/office/drawing/2014/main" id="{0A23501C-EB0E-14C7-2019-4FBA6F847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051" y="0"/>
            <a:ext cx="14645898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194560"/>
            <a:ext cx="18288000" cy="8092440"/>
          </a:xfrm>
          <a:custGeom>
            <a:avLst/>
            <a:gdLst/>
            <a:ahLst/>
            <a:cxnLst/>
            <a:rect l="l" t="t" r="r" b="b"/>
            <a:pathLst>
              <a:path w="18288000" h="8092440">
                <a:moveTo>
                  <a:pt x="0" y="0"/>
                </a:moveTo>
                <a:lnTo>
                  <a:pt x="18288000" y="0"/>
                </a:lnTo>
                <a:lnTo>
                  <a:pt x="18288000" y="8092440"/>
                </a:lnTo>
                <a:lnTo>
                  <a:pt x="0" y="80924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e-IL"/>
          </a:p>
        </p:txBody>
      </p:sp>
      <p:sp>
        <p:nvSpPr>
          <p:cNvPr id="3" name="TextBox 3"/>
          <p:cNvSpPr txBox="1"/>
          <p:nvPr/>
        </p:nvSpPr>
        <p:spPr>
          <a:xfrm>
            <a:off x="3557587" y="765820"/>
            <a:ext cx="11172825" cy="1428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999"/>
              </a:lnSpc>
              <a:spcBef>
                <a:spcPct val="0"/>
              </a:spcBef>
            </a:pPr>
            <a:r>
              <a:rPr lang="en-US" sz="9999" b="1" u="sng" strike="noStrike" spc="-99">
                <a:solidFill>
                  <a:srgbClr val="AAB8DF"/>
                </a:solidFill>
                <a:latin typeface="Nyutro Sans Heavy"/>
                <a:ea typeface="Nyutro Sans Heavy"/>
                <a:cs typeface="Nyutro Sans Heavy"/>
                <a:sym typeface="Nyutro Sans Heavy"/>
                <a:hlinkClick r:id="rId3" tooltip="https://ap-graph-production.up.railway.app/app/index.html"/>
              </a:rPr>
              <a:t>Live Demo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17773" y="6934200"/>
            <a:ext cx="19247032" cy="4815863"/>
            <a:chOff x="0" y="0"/>
            <a:chExt cx="5069177" cy="126837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69177" cy="1268375"/>
            </a:xfrm>
            <a:custGeom>
              <a:avLst/>
              <a:gdLst/>
              <a:ahLst/>
              <a:cxnLst/>
              <a:rect l="l" t="t" r="r" b="b"/>
              <a:pathLst>
                <a:path w="5069177" h="1268375">
                  <a:moveTo>
                    <a:pt x="0" y="0"/>
                  </a:moveTo>
                  <a:lnTo>
                    <a:pt x="5069177" y="0"/>
                  </a:lnTo>
                  <a:lnTo>
                    <a:pt x="5069177" y="1268375"/>
                  </a:lnTo>
                  <a:lnTo>
                    <a:pt x="0" y="1268375"/>
                  </a:lnTo>
                  <a:close/>
                </a:path>
              </a:pathLst>
            </a:custGeom>
            <a:solidFill>
              <a:srgbClr val="C6D4FC"/>
            </a:solidFill>
          </p:spPr>
          <p:txBody>
            <a:bodyPr/>
            <a:lstStyle/>
            <a:p>
              <a:endParaRPr lang="he-I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5069177" cy="1277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4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66750" y="7059583"/>
            <a:ext cx="5550994" cy="1779270"/>
            <a:chOff x="0" y="0"/>
            <a:chExt cx="7401325" cy="2372360"/>
          </a:xfrm>
        </p:grpSpPr>
        <p:sp>
          <p:nvSpPr>
            <p:cNvPr id="6" name="TextBox 6"/>
            <p:cNvSpPr txBox="1"/>
            <p:nvPr/>
          </p:nvSpPr>
          <p:spPr>
            <a:xfrm>
              <a:off x="0" y="523875"/>
              <a:ext cx="6858000" cy="18484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29"/>
                </a:lnSpc>
                <a:spcBef>
                  <a:spcPct val="0"/>
                </a:spcBef>
              </a:pPr>
              <a:r>
                <a:rPr lang="en-US" sz="1950" u="none" strike="noStrike">
                  <a:solidFill>
                    <a:srgbClr val="1E3923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Made the repository interfaces generic for future database integration — not required by EX.6 (e.g. Redis for files, Postgres/Mongo for graph &amp; topic state)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23825"/>
              <a:ext cx="7401325" cy="7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000000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Databases integration (Stateless)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572250" y="4095750"/>
            <a:ext cx="5143500" cy="1934013"/>
            <a:chOff x="0" y="0"/>
            <a:chExt cx="6858000" cy="2578684"/>
          </a:xfrm>
        </p:grpSpPr>
        <p:sp>
          <p:nvSpPr>
            <p:cNvPr id="9" name="TextBox 9"/>
            <p:cNvSpPr txBox="1"/>
            <p:nvPr/>
          </p:nvSpPr>
          <p:spPr>
            <a:xfrm>
              <a:off x="0" y="730199"/>
              <a:ext cx="6858000" cy="18484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29"/>
                </a:lnSpc>
                <a:spcBef>
                  <a:spcPct val="0"/>
                </a:spcBef>
              </a:pPr>
              <a:r>
                <a:rPr lang="en-US" sz="1950" u="none" strike="noStrike">
                  <a:solidFill>
                    <a:srgbClr val="C9D2E3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Active objects and thread-safe pub/sub architecture and design patterns, with open/closed principle and scalability options in the future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23825"/>
              <a:ext cx="6858000" cy="7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 u="none" strike="noStrike">
                  <a:solidFill>
                    <a:srgbClr val="FFFFFF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Concurrency and scale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477750" y="4095750"/>
            <a:ext cx="5143500" cy="1731645"/>
            <a:chOff x="0" y="0"/>
            <a:chExt cx="6858000" cy="2308860"/>
          </a:xfrm>
        </p:grpSpPr>
        <p:sp>
          <p:nvSpPr>
            <p:cNvPr id="12" name="TextBox 12"/>
            <p:cNvSpPr txBox="1"/>
            <p:nvPr/>
          </p:nvSpPr>
          <p:spPr>
            <a:xfrm>
              <a:off x="0" y="917575"/>
              <a:ext cx="6858000" cy="13912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29"/>
                </a:lnSpc>
                <a:spcBef>
                  <a:spcPct val="0"/>
                </a:spcBef>
              </a:pPr>
              <a:r>
                <a:rPr lang="en-US" sz="1950" u="none" strike="noStrike">
                  <a:solidFill>
                    <a:srgbClr val="C9D2E3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Custom HTTP server, REST and parsing</a:t>
              </a:r>
            </a:p>
            <a:p>
              <a:pPr marL="0" lvl="0" indent="0" algn="l">
                <a:lnSpc>
                  <a:spcPts val="2729"/>
                </a:lnSpc>
                <a:spcBef>
                  <a:spcPct val="0"/>
                </a:spcBef>
              </a:pPr>
              <a:r>
                <a:rPr lang="en-US" sz="1950" u="none" strike="noStrike">
                  <a:solidFill>
                    <a:srgbClr val="C9D2E3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Docker, CI/CD and testing</a:t>
              </a:r>
            </a:p>
            <a:p>
              <a:pPr marL="0" lvl="0" indent="0" algn="l">
                <a:lnSpc>
                  <a:spcPts val="2729"/>
                </a:lnSpc>
                <a:spcBef>
                  <a:spcPct val="0"/>
                </a:spcBef>
              </a:pPr>
              <a:r>
                <a:rPr lang="en-US" sz="1950" u="none" strike="noStrike">
                  <a:solidFill>
                    <a:srgbClr val="C9D2E3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Security with files and injections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23825"/>
              <a:ext cx="6858000" cy="7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 u="none" strike="noStrike">
                  <a:solidFill>
                    <a:srgbClr val="FFFFFF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Infrastructure &amp; Security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666750" y="742950"/>
            <a:ext cx="14077950" cy="2324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100"/>
              </a:lnSpc>
              <a:spcBef>
                <a:spcPct val="0"/>
              </a:spcBef>
            </a:pPr>
            <a:r>
              <a:rPr lang="en-US" sz="9000" b="1" u="none" strike="noStrike" spc="-89">
                <a:solidFill>
                  <a:srgbClr val="AAB8DF"/>
                </a:solidFill>
                <a:latin typeface="Nyutro Sans Heavy"/>
                <a:ea typeface="Nyutro Sans Heavy"/>
                <a:cs typeface="Nyutro Sans Heavy"/>
                <a:sym typeface="Nyutro Sans Heavy"/>
              </a:rPr>
              <a:t>Key Takeaways from My Experience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819150" y="4248150"/>
            <a:ext cx="5143500" cy="1279559"/>
            <a:chOff x="0" y="0"/>
            <a:chExt cx="6858000" cy="1706078"/>
          </a:xfrm>
        </p:grpSpPr>
        <p:sp>
          <p:nvSpPr>
            <p:cNvPr id="16" name="TextBox 16"/>
            <p:cNvSpPr txBox="1"/>
            <p:nvPr/>
          </p:nvSpPr>
          <p:spPr>
            <a:xfrm>
              <a:off x="0" y="771993"/>
              <a:ext cx="6858000" cy="9340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29"/>
                </a:lnSpc>
                <a:spcBef>
                  <a:spcPct val="0"/>
                </a:spcBef>
              </a:pPr>
              <a:r>
                <a:rPr lang="en-US" sz="1950" u="none" strike="noStrike">
                  <a:solidFill>
                    <a:srgbClr val="C9D2E3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Designing generic, extensible classes by SOLID and interface-driven code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23825"/>
              <a:ext cx="6858000" cy="7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 u="none" strike="noStrike">
                  <a:solidFill>
                    <a:srgbClr val="FFFFFF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Design &amp; Extensibility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572250" y="7059583"/>
            <a:ext cx="5143500" cy="1279559"/>
            <a:chOff x="0" y="0"/>
            <a:chExt cx="6858000" cy="1706078"/>
          </a:xfrm>
        </p:grpSpPr>
        <p:sp>
          <p:nvSpPr>
            <p:cNvPr id="19" name="TextBox 19"/>
            <p:cNvSpPr txBox="1"/>
            <p:nvPr/>
          </p:nvSpPr>
          <p:spPr>
            <a:xfrm>
              <a:off x="0" y="771993"/>
              <a:ext cx="6858000" cy="9340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29"/>
                </a:lnSpc>
                <a:spcBef>
                  <a:spcPct val="0"/>
                </a:spcBef>
              </a:pPr>
              <a:r>
                <a:rPr lang="en-US" sz="1950" u="none" strike="noStrike">
                  <a:solidFill>
                    <a:srgbClr val="1E3923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Learned what it takes to design a clean, generic RESTful API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23825"/>
              <a:ext cx="6858000" cy="7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000000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RESTful API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477750" y="7059583"/>
            <a:ext cx="5143500" cy="1279559"/>
            <a:chOff x="0" y="0"/>
            <a:chExt cx="6858000" cy="1706078"/>
          </a:xfrm>
        </p:grpSpPr>
        <p:sp>
          <p:nvSpPr>
            <p:cNvPr id="22" name="TextBox 22"/>
            <p:cNvSpPr txBox="1"/>
            <p:nvPr/>
          </p:nvSpPr>
          <p:spPr>
            <a:xfrm>
              <a:off x="0" y="771993"/>
              <a:ext cx="6858000" cy="9340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29"/>
                </a:lnSpc>
                <a:spcBef>
                  <a:spcPct val="0"/>
                </a:spcBef>
              </a:pPr>
              <a:r>
                <a:rPr lang="en-US" sz="1950">
                  <a:solidFill>
                    <a:srgbClr val="1E3923"/>
                  </a:solidFill>
                  <a:latin typeface="Nyutro Sans"/>
                  <a:ea typeface="Nyutro Sans"/>
                  <a:cs typeface="Nyutro Sans"/>
                  <a:sym typeface="Nyutro Sans"/>
                </a:rPr>
                <a:t>Learned how to create a well documented code with javadocs for future developers.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23825"/>
              <a:ext cx="6858000" cy="7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000000"/>
                  </a:solidFill>
                  <a:latin typeface="Nyutro Sans Bold"/>
                  <a:ea typeface="Nyutro Sans Bold"/>
                  <a:cs typeface="Nyutro Sans Bold"/>
                  <a:sym typeface="Nyutro Sans Bold"/>
                </a:rPr>
                <a:t>Documentation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</Words>
  <Application>Microsoft Office PowerPoint</Application>
  <PresentationFormat>מותאם אישית</PresentationFormat>
  <Paragraphs>29</Paragraphs>
  <Slides>5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5</vt:i4>
      </vt:variant>
    </vt:vector>
  </HeadingPairs>
  <TitlesOfParts>
    <vt:vector size="11" baseType="lpstr">
      <vt:lpstr>Calibri</vt:lpstr>
      <vt:lpstr>Nyutro Sans Heavy</vt:lpstr>
      <vt:lpstr>Arial</vt:lpstr>
      <vt:lpstr>Nyutro Sans</vt:lpstr>
      <vt:lpstr>Nyutro Sans Bold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ap-graph: Computational Graph Engine</dc:title>
  <dc:description>מצגת - ap-graph: Computational Graph Engine</dc:description>
  <cp:lastModifiedBy>Bar Shay Ben Haim</cp:lastModifiedBy>
  <cp:revision>2</cp:revision>
  <dcterms:created xsi:type="dcterms:W3CDTF">2006-08-16T00:00:00Z</dcterms:created>
  <dcterms:modified xsi:type="dcterms:W3CDTF">2026-06-27T19:48:30Z</dcterms:modified>
  <dc:identifier>DAHNly1qYto</dc:identifier>
</cp:coreProperties>
</file>