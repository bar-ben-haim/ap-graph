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yutro Sans Heavy" charset="1" panose="00000000000000000000"/>
      <p:regular r:id="rId11"/>
    </p:embeddedFont>
    <p:embeddedFont>
      <p:font typeface="Nyutro Sans" charset="1" panose="00000000000000000000"/>
      <p:regular r:id="rId12"/>
    </p:embeddedFont>
    <p:embeddedFont>
      <p:font typeface="Nyutro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ap-graph-production.up.railway.app/app/index.html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79008" y="116218"/>
            <a:ext cx="7908992" cy="10283443"/>
            <a:chOff x="0" y="0"/>
            <a:chExt cx="2140272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0273" cy="2782840"/>
            </a:xfrm>
            <a:custGeom>
              <a:avLst/>
              <a:gdLst/>
              <a:ahLst/>
              <a:cxnLst/>
              <a:rect r="r" b="b" t="t" l="l"/>
              <a:pathLst>
                <a:path h="2782840" w="2140273">
                  <a:moveTo>
                    <a:pt x="1652831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962600" y="2782840"/>
                  </a:lnTo>
                  <a:cubicBezTo>
                    <a:pt x="2060726" y="2782840"/>
                    <a:pt x="2140273" y="2703293"/>
                    <a:pt x="2140273" y="2605167"/>
                  </a:cubicBezTo>
                  <a:lnTo>
                    <a:pt x="2140273" y="523958"/>
                  </a:lnTo>
                  <a:cubicBezTo>
                    <a:pt x="2140273" y="480251"/>
                    <a:pt x="2124163" y="438079"/>
                    <a:pt x="2095024" y="405503"/>
                  </a:cubicBezTo>
                  <a:lnTo>
                    <a:pt x="1785247" y="59214"/>
                  </a:lnTo>
                  <a:cubicBezTo>
                    <a:pt x="1751543" y="21536"/>
                    <a:pt x="1703384" y="0"/>
                    <a:pt x="1652831" y="0"/>
                  </a:cubicBezTo>
                  <a:close/>
                </a:path>
              </a:pathLst>
            </a:custGeom>
            <a:blipFill>
              <a:blip r:embed="rId2"/>
              <a:stretch>
                <a:fillRect l="-25390" t="0" r="-2539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488" y="666750"/>
            <a:ext cx="10250739" cy="6205227"/>
            <a:chOff x="0" y="0"/>
            <a:chExt cx="13667653" cy="82736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3667653" cy="6241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800" spc="-88">
                  <a:solidFill>
                    <a:srgbClr val="AAB8D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A</a:t>
              </a:r>
              <a:r>
                <a:rPr lang="en-US" b="true" sz="8800" spc="-88">
                  <a:solidFill>
                    <a:srgbClr val="AAB8D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dvanced Programming 83677: Computational Graph Project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17811"/>
              <a:ext cx="9182100" cy="2155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Name: </a:t>
              </a:r>
              <a:r>
                <a:rPr lang="en-US" sz="3000" spc="-60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Bar Ben Haim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ID: 212214498</a:t>
              </a:r>
            </a:p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Email: Bon23174@gmail.com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34" y="210595"/>
            <a:ext cx="11592579" cy="7347480"/>
            <a:chOff x="0" y="0"/>
            <a:chExt cx="15456772" cy="97966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944057"/>
              <a:ext cx="15456772" cy="5852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Building computational graphs quickly and efficiently is challenging.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Ap-graph project offers a configurable solution that enables </a:t>
              </a:r>
              <a:r>
                <a:rPr lang="en-US" b="true" sz="2499">
                  <a:solidFill>
                    <a:srgbClr val="7189B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real-time processing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and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a generic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b="true" sz="2499">
                  <a:solidFill>
                    <a:srgbClr val="7189B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REST 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+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b="true" sz="2499">
                  <a:solidFill>
                    <a:srgbClr val="7189B7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pub/sub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infrastructure</a:t>
              </a: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project supplies a generic server interfaces, and their implementation, for:</a:t>
              </a:r>
            </a:p>
            <a:p>
              <a:pPr algn="l" marL="1079499" indent="-359833" lvl="2">
                <a:lnSpc>
                  <a:spcPts val="34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managing the graph.</a:t>
              </a:r>
            </a:p>
            <a:p>
              <a:pPr algn="l" marL="1079499" indent="-359833" lvl="2">
                <a:lnSpc>
                  <a:spcPts val="34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uploading config files.</a:t>
              </a:r>
            </a:p>
            <a:p>
              <a:pPr algn="l" marL="1079499" indent="-359833" lvl="2">
                <a:lnSpc>
                  <a:spcPts val="34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sending messages to topics to trigger calculations.</a:t>
              </a:r>
            </a:p>
            <a:p>
              <a:pPr algn="l" marL="1079499" indent="-359833" lvl="2">
                <a:lnSpc>
                  <a:spcPts val="349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restarting/deleting configuration.</a:t>
              </a:r>
            </a:p>
            <a:p>
              <a:pPr algn="l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7189B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managed in Railway cloud with tests and automatic CI/CD when merging to  main branch.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6200"/>
              <a:ext cx="15456772" cy="312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AAB8D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The Problem &amp; Background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53418" y="0"/>
            <a:ext cx="6259749" cy="10287000"/>
            <a:chOff x="0" y="0"/>
            <a:chExt cx="1474378" cy="2422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4379" cy="2422941"/>
            </a:xfrm>
            <a:custGeom>
              <a:avLst/>
              <a:gdLst/>
              <a:ahLst/>
              <a:cxnLst/>
              <a:rect r="r" b="b" t="t" l="l"/>
              <a:pathLst>
                <a:path h="2422941" w="1474379">
                  <a:moveTo>
                    <a:pt x="986937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245268"/>
                  </a:lnTo>
                  <a:cubicBezTo>
                    <a:pt x="0" y="2343394"/>
                    <a:pt x="79547" y="2422941"/>
                    <a:pt x="177673" y="2422941"/>
                  </a:cubicBezTo>
                  <a:lnTo>
                    <a:pt x="1296706" y="2422941"/>
                  </a:lnTo>
                  <a:cubicBezTo>
                    <a:pt x="1394832" y="2422941"/>
                    <a:pt x="1474379" y="2343394"/>
                    <a:pt x="1474379" y="2245268"/>
                  </a:cubicBezTo>
                  <a:lnTo>
                    <a:pt x="1474379" y="523958"/>
                  </a:lnTo>
                  <a:cubicBezTo>
                    <a:pt x="1474379" y="480251"/>
                    <a:pt x="1458269" y="438079"/>
                    <a:pt x="1429130" y="405503"/>
                  </a:cubicBezTo>
                  <a:lnTo>
                    <a:pt x="1119353" y="59214"/>
                  </a:lnTo>
                  <a:cubicBezTo>
                    <a:pt x="1085649" y="21536"/>
                    <a:pt x="1037490" y="0"/>
                    <a:pt x="98693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89" r="0" b="-28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2292" y="0"/>
            <a:ext cx="14643416" cy="10287000"/>
          </a:xfrm>
          <a:custGeom>
            <a:avLst/>
            <a:gdLst/>
            <a:ahLst/>
            <a:cxnLst/>
            <a:rect r="r" b="b" t="t" l="l"/>
            <a:pathLst>
              <a:path h="10287000" w="14643416">
                <a:moveTo>
                  <a:pt x="0" y="0"/>
                </a:moveTo>
                <a:lnTo>
                  <a:pt x="14643416" y="0"/>
                </a:lnTo>
                <a:lnTo>
                  <a:pt x="146434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194560"/>
            <a:ext cx="18288000" cy="8092440"/>
          </a:xfrm>
          <a:custGeom>
            <a:avLst/>
            <a:gdLst/>
            <a:ahLst/>
            <a:cxnLst/>
            <a:rect r="r" b="b" t="t" l="l"/>
            <a:pathLst>
              <a:path h="8092440" w="18288000">
                <a:moveTo>
                  <a:pt x="0" y="0"/>
                </a:moveTo>
                <a:lnTo>
                  <a:pt x="18288000" y="0"/>
                </a:lnTo>
                <a:lnTo>
                  <a:pt x="18288000" y="8092440"/>
                </a:lnTo>
                <a:lnTo>
                  <a:pt x="0" y="8092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57587" y="765820"/>
            <a:ext cx="11172825" cy="142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9"/>
              </a:lnSpc>
              <a:spcBef>
                <a:spcPct val="0"/>
              </a:spcBef>
            </a:pPr>
            <a:r>
              <a:rPr lang="en-US" b="true" sz="9999" spc="-99" strike="noStrike" u="sng">
                <a:solidFill>
                  <a:srgbClr val="AAB8DF"/>
                </a:solidFill>
                <a:latin typeface="Nyutro Sans Heavy"/>
                <a:ea typeface="Nyutro Sans Heavy"/>
                <a:cs typeface="Nyutro Sans Heavy"/>
                <a:sym typeface="Nyutro Sans Heavy"/>
                <a:hlinkClick r:id="rId3" tooltip="https://ap-graph-production.up.railway.app/app/index.html"/>
              </a:rPr>
              <a:t>Live Demo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773" y="6934200"/>
            <a:ext cx="19247032" cy="4815863"/>
            <a:chOff x="0" y="0"/>
            <a:chExt cx="5069177" cy="12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177" cy="1268375"/>
            </a:xfrm>
            <a:custGeom>
              <a:avLst/>
              <a:gdLst/>
              <a:ahLst/>
              <a:cxnLst/>
              <a:rect r="r" b="b" t="t" l="l"/>
              <a:pathLst>
                <a:path h="1268375" w="5069177">
                  <a:moveTo>
                    <a:pt x="0" y="0"/>
                  </a:moveTo>
                  <a:lnTo>
                    <a:pt x="5069177" y="0"/>
                  </a:lnTo>
                  <a:lnTo>
                    <a:pt x="5069177" y="1268375"/>
                  </a:lnTo>
                  <a:lnTo>
                    <a:pt x="0" y="1268375"/>
                  </a:lnTo>
                  <a:close/>
                </a:path>
              </a:pathLst>
            </a:custGeom>
            <a:solidFill>
              <a:srgbClr val="C6D4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069177" cy="12779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7059583"/>
            <a:ext cx="5550994" cy="1779270"/>
            <a:chOff x="0" y="0"/>
            <a:chExt cx="7401325" cy="23723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23875"/>
              <a:ext cx="6858000" cy="1848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1E392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Made the repository interfaces generic for future database integration — not required by EX.6 (e.g. Redis for files, Postgres/Mongo for graph &amp; topic state)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7401325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Databases integration (Stateless)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0" y="4095750"/>
            <a:ext cx="5143500" cy="1934013"/>
            <a:chOff x="0" y="0"/>
            <a:chExt cx="6858000" cy="257868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30199"/>
              <a:ext cx="6858000" cy="1848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Active objects and thread-safe pub/sub </a:t>
              </a: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archit</a:t>
              </a: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cture and design patterns, with open/closed principle and scalability options in the future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23825"/>
              <a:ext cx="6858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Concurrency and scale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77750" y="4095750"/>
            <a:ext cx="5143500" cy="1731645"/>
            <a:chOff x="0" y="0"/>
            <a:chExt cx="6858000" cy="23088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17575"/>
              <a:ext cx="6858000" cy="1391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Custom HTTP server, REST and parsing</a:t>
              </a:r>
            </a:p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Docker, CI/CD and testing</a:t>
              </a:r>
            </a:p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Security with files and injections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23825"/>
              <a:ext cx="6858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Infrastructure &amp; Security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407795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AAB8D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Key Takeaways from My Experience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19150" y="4248150"/>
            <a:ext cx="5143500" cy="1279559"/>
            <a:chOff x="0" y="0"/>
            <a:chExt cx="6858000" cy="1706078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771993"/>
              <a:ext cx="68580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C9D2E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Designing generic, extensible classes by SOLID and interface-driven code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23825"/>
              <a:ext cx="6858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Design &amp; Extensibility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72250" y="7059583"/>
            <a:ext cx="5143500" cy="1279559"/>
            <a:chOff x="0" y="0"/>
            <a:chExt cx="6858000" cy="1706078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771993"/>
              <a:ext cx="68580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1E392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Learned what it takes to design a clean, generic RESTful API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23825"/>
              <a:ext cx="6858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RESTful API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7750" y="7059583"/>
            <a:ext cx="5143500" cy="1279559"/>
            <a:chOff x="0" y="0"/>
            <a:chExt cx="6858000" cy="170607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771993"/>
              <a:ext cx="68580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50">
                  <a:solidFill>
                    <a:srgbClr val="1E3923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Learned how to create a well documented code with javadocs for future developers.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23825"/>
              <a:ext cx="6858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0000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Documentation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מצגת - ap-graph: Computational Graph Engine</dc:description>
  <dc:identifier>DAHNly1qYto</dc:identifier>
  <dcterms:modified xsi:type="dcterms:W3CDTF">2011-08-01T06:04:30Z</dcterms:modified>
  <cp:revision>1</cp:revision>
  <dc:title>ap-graph: Computational Graph Engine</dc:title>
</cp:coreProperties>
</file>